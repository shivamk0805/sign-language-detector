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4630400" cy="8229600"/>
  <p:notesSz cx="8229600" cy="14630400"/>
  <p:embeddedFontLst>
    <p:embeddedFont>
      <p:font typeface="Barlow"/>
      <p:regular r:id="rId15"/>
    </p:embeddedFont>
    <p:embeddedFont>
      <p:font typeface="Barlow"/>
      <p:regular r:id="rId16"/>
    </p:embeddedFont>
    <p:embeddedFont>
      <p:font typeface="Barlow"/>
      <p:regular r:id="rId17"/>
    </p:embeddedFont>
    <p:embeddedFont>
      <p:font typeface="Barlow"/>
      <p:regular r:id="rId18"/>
    </p:embeddedFont>
    <p:embeddedFont>
      <p:font typeface="Montserrat"/>
      <p:regular r:id="rId19"/>
    </p:embeddedFont>
    <p:embeddedFont>
      <p:font typeface="Montserrat"/>
      <p:regular r:id="rId20"/>
    </p:embeddedFont>
    <p:embeddedFont>
      <p:font typeface="Montserrat"/>
      <p:regular r:id="rId21"/>
    </p:embeddedFont>
    <p:embeddedFont>
      <p:font typeface="Montserrat"/>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 Id="rId19" Type="http://schemas.openxmlformats.org/officeDocument/2006/relationships/font" Target="fonts/font5.fntdata"/><Relationship Id="rId20" Type="http://schemas.openxmlformats.org/officeDocument/2006/relationships/font" Target="fonts/font6.fntdata"/><Relationship Id="rId21" Type="http://schemas.openxmlformats.org/officeDocument/2006/relationships/font" Target="fonts/font7.fntdata"/><Relationship Id="rId22"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pn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pn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pn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9-1.png"/><Relationship Id="rId2" Type="http://schemas.openxmlformats.org/officeDocument/2006/relationships/image" Target="../media/image-1009-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6.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slideLayout" Target="../slideLayouts/slideLayout8.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1756410" y="3375660"/>
            <a:ext cx="1973580" cy="1478280"/>
          </a:xfrm>
          <a:prstGeom prst="rect">
            <a:avLst/>
          </a:prstGeom>
        </p:spPr>
      </p:pic>
      <p:sp>
        <p:nvSpPr>
          <p:cNvPr id="4" name="Text 0"/>
          <p:cNvSpPr/>
          <p:nvPr/>
        </p:nvSpPr>
        <p:spPr>
          <a:xfrm>
            <a:off x="6244709" y="2597706"/>
            <a:ext cx="7627382" cy="1425416"/>
          </a:xfrm>
          <a:prstGeom prst="rect">
            <a:avLst/>
          </a:prstGeom>
          <a:noFill/>
          <a:ln/>
        </p:spPr>
        <p:txBody>
          <a:bodyPr wrap="square" lIns="0" tIns="0" rIns="0" bIns="0" rtlCol="0" anchor="t"/>
          <a:lstStyle/>
          <a:p>
            <a:pPr algn="l" indent="0" marL="0">
              <a:lnSpc>
                <a:spcPts val="5600"/>
              </a:lnSpc>
              <a:buNone/>
            </a:pPr>
            <a:r>
              <a:rPr lang="en-US" sz="4450" b="1" dirty="0">
                <a:solidFill>
                  <a:srgbClr val="7068F4"/>
                </a:solidFill>
                <a:latin typeface="Barlow Bold" pitchFamily="34" charset="0"/>
                <a:ea typeface="Barlow Bold" pitchFamily="34" charset="-122"/>
                <a:cs typeface="Barlow Bold" pitchFamily="34" charset="-120"/>
              </a:rPr>
              <a:t>Real-Time Sign Language Translator Using ML &amp; OpenCV</a:t>
            </a:r>
            <a:endParaRPr lang="en-US" sz="4450" dirty="0"/>
          </a:p>
        </p:txBody>
      </p:sp>
      <p:sp>
        <p:nvSpPr>
          <p:cNvPr id="5" name="Text 1"/>
          <p:cNvSpPr/>
          <p:nvPr/>
        </p:nvSpPr>
        <p:spPr>
          <a:xfrm>
            <a:off x="6244709" y="4348043"/>
            <a:ext cx="7627382" cy="346710"/>
          </a:xfrm>
          <a:prstGeom prst="rect">
            <a:avLst/>
          </a:prstGeom>
          <a:noFill/>
          <a:ln/>
        </p:spPr>
        <p:txBody>
          <a:bodyPr wrap="non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Group members: Danyal /Arsh /Shivam /Malhar</a:t>
            </a:r>
            <a:endParaRPr lang="en-US" sz="1700" dirty="0"/>
          </a:p>
        </p:txBody>
      </p:sp>
      <p:sp>
        <p:nvSpPr>
          <p:cNvPr id="6" name="Text 2"/>
          <p:cNvSpPr/>
          <p:nvPr/>
        </p:nvSpPr>
        <p:spPr>
          <a:xfrm>
            <a:off x="6244709" y="4938474"/>
            <a:ext cx="7627382" cy="693420"/>
          </a:xfrm>
          <a:prstGeom prst="rect">
            <a:avLst/>
          </a:prstGeom>
          <a:noFill/>
          <a:ln/>
        </p:spPr>
        <p:txBody>
          <a:bodyPr wrap="squar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Review on Real-Time Sign Language Detection Using TensorFlow and OpenCV</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44709" y="2555796"/>
            <a:ext cx="5701546" cy="712708"/>
          </a:xfrm>
          <a:prstGeom prst="rect">
            <a:avLst/>
          </a:prstGeom>
          <a:noFill/>
          <a:ln/>
        </p:spPr>
        <p:txBody>
          <a:bodyPr wrap="none" lIns="0" tIns="0" rIns="0" bIns="0" rtlCol="0" anchor="t"/>
          <a:lstStyle/>
          <a:p>
            <a:pPr algn="l" indent="0" marL="0">
              <a:lnSpc>
                <a:spcPts val="5600"/>
              </a:lnSpc>
              <a:buNone/>
            </a:pPr>
            <a:r>
              <a:rPr lang="en-US" sz="4450" b="1" dirty="0">
                <a:solidFill>
                  <a:srgbClr val="7068F4"/>
                </a:solidFill>
                <a:latin typeface="Barlow Bold" pitchFamily="34" charset="0"/>
                <a:ea typeface="Barlow Bold" pitchFamily="34" charset="-122"/>
                <a:cs typeface="Barlow Bold" pitchFamily="34" charset="-120"/>
              </a:rPr>
              <a:t>1. Introduction</a:t>
            </a:r>
            <a:endParaRPr lang="en-US" sz="4450" dirty="0"/>
          </a:p>
        </p:txBody>
      </p:sp>
      <p:sp>
        <p:nvSpPr>
          <p:cNvPr id="4" name="Text 1"/>
          <p:cNvSpPr/>
          <p:nvPr/>
        </p:nvSpPr>
        <p:spPr>
          <a:xfrm>
            <a:off x="6244709" y="3593425"/>
            <a:ext cx="7627382" cy="2080260"/>
          </a:xfrm>
          <a:prstGeom prst="rect">
            <a:avLst/>
          </a:prstGeom>
          <a:noFill/>
          <a:ln/>
        </p:spPr>
        <p:txBody>
          <a:bodyPr wrap="squar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The implementation of real-time sign language detection systems bridges the communication gap between the hearing-impaired and the hearing population. The reviewed paper proposes a cost-effective, camera-based system using image processing and machine learning, particularly leveraging the SSD MobileNet V2 architecture for hand gesture recognition.</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9422130" y="1863090"/>
            <a:ext cx="4930140" cy="4503420"/>
          </a:xfrm>
          <a:prstGeom prst="rect">
            <a:avLst/>
          </a:prstGeom>
        </p:spPr>
      </p:pic>
      <p:sp>
        <p:nvSpPr>
          <p:cNvPr id="4" name="Text 0"/>
          <p:cNvSpPr/>
          <p:nvPr/>
        </p:nvSpPr>
        <p:spPr>
          <a:xfrm>
            <a:off x="649248" y="885468"/>
            <a:ext cx="7616785" cy="610195"/>
          </a:xfrm>
          <a:prstGeom prst="rect">
            <a:avLst/>
          </a:prstGeom>
          <a:noFill/>
          <a:ln/>
        </p:spPr>
        <p:txBody>
          <a:bodyPr wrap="none" lIns="0" tIns="0" rIns="0" bIns="0" rtlCol="0" anchor="t"/>
          <a:lstStyle/>
          <a:p>
            <a:pPr algn="l" indent="0" marL="0">
              <a:lnSpc>
                <a:spcPts val="4800"/>
              </a:lnSpc>
              <a:buNone/>
            </a:pPr>
            <a:r>
              <a:rPr lang="en-US" sz="3800" b="1" dirty="0">
                <a:solidFill>
                  <a:srgbClr val="7068F4"/>
                </a:solidFill>
                <a:latin typeface="Barlow Bold" pitchFamily="34" charset="0"/>
                <a:ea typeface="Barlow Bold" pitchFamily="34" charset="-122"/>
                <a:cs typeface="Barlow Bold" pitchFamily="34" charset="-120"/>
              </a:rPr>
              <a:t>2. Key Techniques and Components</a:t>
            </a:r>
            <a:endParaRPr lang="en-US" sz="3800" dirty="0"/>
          </a:p>
        </p:txBody>
      </p:sp>
      <p:sp>
        <p:nvSpPr>
          <p:cNvPr id="5" name="Text 1"/>
          <p:cNvSpPr/>
          <p:nvPr/>
        </p:nvSpPr>
        <p:spPr>
          <a:xfrm>
            <a:off x="649248" y="1773912"/>
            <a:ext cx="2440781" cy="305038"/>
          </a:xfrm>
          <a:prstGeom prst="rect">
            <a:avLst/>
          </a:prstGeom>
          <a:noFill/>
          <a:ln/>
        </p:spPr>
        <p:txBody>
          <a:bodyPr wrap="none" lIns="0" tIns="0" rIns="0" bIns="0" rtlCol="0" anchor="t"/>
          <a:lstStyle/>
          <a:p>
            <a:pPr algn="l" indent="0" marL="0">
              <a:lnSpc>
                <a:spcPts val="2400"/>
              </a:lnSpc>
              <a:buNone/>
            </a:pPr>
            <a:r>
              <a:rPr lang="en-US" sz="1900" b="1" dirty="0">
                <a:solidFill>
                  <a:srgbClr val="7068F4"/>
                </a:solidFill>
                <a:latin typeface="Barlow Bold" pitchFamily="34" charset="0"/>
                <a:ea typeface="Barlow Bold" pitchFamily="34" charset="-122"/>
                <a:cs typeface="Barlow Bold" pitchFamily="34" charset="-120"/>
              </a:rPr>
              <a:t>2.1. Contrast Image</a:t>
            </a:r>
            <a:endParaRPr lang="en-US" sz="1900" dirty="0"/>
          </a:p>
        </p:txBody>
      </p:sp>
      <p:sp>
        <p:nvSpPr>
          <p:cNvPr id="6" name="Text 2"/>
          <p:cNvSpPr/>
          <p:nvPr/>
        </p:nvSpPr>
        <p:spPr>
          <a:xfrm>
            <a:off x="649248" y="2357199"/>
            <a:ext cx="7845504" cy="1186815"/>
          </a:xfrm>
          <a:prstGeom prst="rect">
            <a:avLst/>
          </a:prstGeom>
          <a:noFill/>
          <a:ln/>
        </p:spPr>
        <p:txBody>
          <a:bodyPr wrap="square" lIns="0" tIns="0" rIns="0" bIns="0" rtlCol="0" anchor="t"/>
          <a:lstStyle/>
          <a:p>
            <a:pPr algn="l" indent="0" marL="0">
              <a:lnSpc>
                <a:spcPts val="2300"/>
              </a:lnSpc>
              <a:buNone/>
            </a:pPr>
            <a:r>
              <a:rPr lang="en-US" sz="1450" dirty="0">
                <a:solidFill>
                  <a:srgbClr val="272525"/>
                </a:solidFill>
                <a:latin typeface="Montserrat" pitchFamily="34" charset="0"/>
                <a:ea typeface="Montserrat" pitchFamily="34" charset="-122"/>
                <a:cs typeface="Montserrat" pitchFamily="34" charset="-120"/>
              </a:rPr>
              <a:t>The system ensures high-contrast imaging for effective hand segmentation. The importance of contrast is emphasized in enabling the model to distinguish the hand region from the background. Techniques like adaptive thresholding and binary conversion are applied post-hand segmentation to enhance contrast.</a:t>
            </a:r>
            <a:endParaRPr lang="en-US" sz="1450" dirty="0"/>
          </a:p>
        </p:txBody>
      </p:sp>
      <p:sp>
        <p:nvSpPr>
          <p:cNvPr id="7" name="Text 3"/>
          <p:cNvSpPr/>
          <p:nvPr/>
        </p:nvSpPr>
        <p:spPr>
          <a:xfrm>
            <a:off x="649248" y="3822263"/>
            <a:ext cx="2440781" cy="305038"/>
          </a:xfrm>
          <a:prstGeom prst="rect">
            <a:avLst/>
          </a:prstGeom>
          <a:noFill/>
          <a:ln/>
        </p:spPr>
        <p:txBody>
          <a:bodyPr wrap="none" lIns="0" tIns="0" rIns="0" bIns="0" rtlCol="0" anchor="t"/>
          <a:lstStyle/>
          <a:p>
            <a:pPr algn="l" indent="0" marL="0">
              <a:lnSpc>
                <a:spcPts val="2400"/>
              </a:lnSpc>
              <a:buNone/>
            </a:pPr>
            <a:r>
              <a:rPr lang="en-US" sz="1900" b="1" dirty="0">
                <a:solidFill>
                  <a:srgbClr val="7068F4"/>
                </a:solidFill>
                <a:latin typeface="Barlow Bold" pitchFamily="34" charset="0"/>
                <a:ea typeface="Barlow Bold" pitchFamily="34" charset="-122"/>
                <a:cs typeface="Barlow Bold" pitchFamily="34" charset="-120"/>
              </a:rPr>
              <a:t>2.2. Black Background</a:t>
            </a:r>
            <a:endParaRPr lang="en-US" sz="1900" dirty="0"/>
          </a:p>
        </p:txBody>
      </p:sp>
      <p:sp>
        <p:nvSpPr>
          <p:cNvPr id="8" name="Text 4"/>
          <p:cNvSpPr/>
          <p:nvPr/>
        </p:nvSpPr>
        <p:spPr>
          <a:xfrm>
            <a:off x="649248" y="4405551"/>
            <a:ext cx="7845504" cy="890111"/>
          </a:xfrm>
          <a:prstGeom prst="rect">
            <a:avLst/>
          </a:prstGeom>
          <a:noFill/>
          <a:ln/>
        </p:spPr>
        <p:txBody>
          <a:bodyPr wrap="square" lIns="0" tIns="0" rIns="0" bIns="0" rtlCol="0" anchor="t"/>
          <a:lstStyle/>
          <a:p>
            <a:pPr algn="l" indent="0" marL="0">
              <a:lnSpc>
                <a:spcPts val="2300"/>
              </a:lnSpc>
              <a:buNone/>
            </a:pPr>
            <a:r>
              <a:rPr lang="en-US" sz="1450" dirty="0">
                <a:solidFill>
                  <a:srgbClr val="272525"/>
                </a:solidFill>
                <a:latin typeface="Montserrat" pitchFamily="34" charset="0"/>
                <a:ea typeface="Montserrat" pitchFamily="34" charset="-122"/>
                <a:cs typeface="Montserrat" pitchFamily="34" charset="-120"/>
              </a:rPr>
              <a:t>To maximize recognition accuracy, the model was trained and tested under controlled environments, often using plain black or dark-colored backgrounds. This simplification helps eliminate background noise and improve hand detection.</a:t>
            </a:r>
            <a:endParaRPr lang="en-US" sz="1450" dirty="0"/>
          </a:p>
        </p:txBody>
      </p:sp>
      <p:sp>
        <p:nvSpPr>
          <p:cNvPr id="9" name="Text 5"/>
          <p:cNvSpPr/>
          <p:nvPr/>
        </p:nvSpPr>
        <p:spPr>
          <a:xfrm>
            <a:off x="649248" y="5573911"/>
            <a:ext cx="4180999" cy="305038"/>
          </a:xfrm>
          <a:prstGeom prst="rect">
            <a:avLst/>
          </a:prstGeom>
          <a:noFill/>
          <a:ln/>
        </p:spPr>
        <p:txBody>
          <a:bodyPr wrap="none" lIns="0" tIns="0" rIns="0" bIns="0" rtlCol="0" anchor="t"/>
          <a:lstStyle/>
          <a:p>
            <a:pPr algn="l" indent="0" marL="0">
              <a:lnSpc>
                <a:spcPts val="2400"/>
              </a:lnSpc>
              <a:buNone/>
            </a:pPr>
            <a:r>
              <a:rPr lang="en-US" sz="1900" b="1" dirty="0">
                <a:solidFill>
                  <a:srgbClr val="7068F4"/>
                </a:solidFill>
                <a:latin typeface="Barlow Bold" pitchFamily="34" charset="0"/>
                <a:ea typeface="Barlow Bold" pitchFamily="34" charset="-122"/>
                <a:cs typeface="Barlow Bold" pitchFamily="34" charset="-120"/>
              </a:rPr>
              <a:t>2.3. White Hand / Hand Color Detection</a:t>
            </a:r>
            <a:endParaRPr lang="en-US" sz="1900" dirty="0"/>
          </a:p>
        </p:txBody>
      </p:sp>
      <p:sp>
        <p:nvSpPr>
          <p:cNvPr id="10" name="Text 6"/>
          <p:cNvSpPr/>
          <p:nvPr/>
        </p:nvSpPr>
        <p:spPr>
          <a:xfrm>
            <a:off x="649248" y="6157198"/>
            <a:ext cx="7845504" cy="1186815"/>
          </a:xfrm>
          <a:prstGeom prst="rect">
            <a:avLst/>
          </a:prstGeom>
          <a:noFill/>
          <a:ln/>
        </p:spPr>
        <p:txBody>
          <a:bodyPr wrap="square" lIns="0" tIns="0" rIns="0" bIns="0" rtlCol="0" anchor="t"/>
          <a:lstStyle/>
          <a:p>
            <a:pPr algn="l" indent="0" marL="0">
              <a:lnSpc>
                <a:spcPts val="2300"/>
              </a:lnSpc>
              <a:buNone/>
            </a:pPr>
            <a:r>
              <a:rPr lang="en-US" sz="1450" dirty="0">
                <a:solidFill>
                  <a:srgbClr val="272525"/>
                </a:solidFill>
                <a:latin typeface="Montserrat" pitchFamily="34" charset="0"/>
                <a:ea typeface="Montserrat" pitchFamily="34" charset="-122"/>
                <a:cs typeface="Montserrat" pitchFamily="34" charset="-120"/>
              </a:rPr>
              <a:t>The datasets were collected using webcams, ensuring that hand color was distinguishable against the background. Skin color segmentation or manual HSV-based filtering helped in isolating hands. In some referenced methods, background subtraction and hand masking techniques are used for better detection.</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58309" y="818078"/>
            <a:ext cx="8080177" cy="712708"/>
          </a:xfrm>
          <a:prstGeom prst="rect">
            <a:avLst/>
          </a:prstGeom>
          <a:noFill/>
          <a:ln/>
        </p:spPr>
        <p:txBody>
          <a:bodyPr wrap="none" lIns="0" tIns="0" rIns="0" bIns="0" rtlCol="0" anchor="t"/>
          <a:lstStyle/>
          <a:p>
            <a:pPr algn="l" indent="0" marL="0">
              <a:lnSpc>
                <a:spcPts val="5600"/>
              </a:lnSpc>
              <a:buNone/>
            </a:pPr>
            <a:r>
              <a:rPr lang="en-US" sz="4450" b="1" dirty="0">
                <a:solidFill>
                  <a:srgbClr val="7068F4"/>
                </a:solidFill>
                <a:latin typeface="Barlow Bold" pitchFamily="34" charset="0"/>
                <a:ea typeface="Barlow Bold" pitchFamily="34" charset="-122"/>
                <a:cs typeface="Barlow Bold" pitchFamily="34" charset="-120"/>
              </a:rPr>
              <a:t>3. Image Processing Techniques</a:t>
            </a:r>
            <a:endParaRPr lang="en-US" sz="4450" dirty="0"/>
          </a:p>
        </p:txBody>
      </p:sp>
      <p:sp>
        <p:nvSpPr>
          <p:cNvPr id="3" name="Text 1"/>
          <p:cNvSpPr/>
          <p:nvPr/>
        </p:nvSpPr>
        <p:spPr>
          <a:xfrm>
            <a:off x="758309" y="2072283"/>
            <a:ext cx="2850713" cy="356235"/>
          </a:xfrm>
          <a:prstGeom prst="rect">
            <a:avLst/>
          </a:prstGeom>
          <a:noFill/>
          <a:ln/>
        </p:spPr>
        <p:txBody>
          <a:bodyPr wrap="none" lIns="0" tIns="0" rIns="0" bIns="0" rtlCol="0" anchor="t"/>
          <a:lstStyle/>
          <a:p>
            <a:pPr algn="l" indent="0" marL="0">
              <a:lnSpc>
                <a:spcPts val="2800"/>
              </a:lnSpc>
              <a:buNone/>
            </a:pPr>
            <a:r>
              <a:rPr lang="en-US" sz="2200" b="1" dirty="0">
                <a:solidFill>
                  <a:srgbClr val="7068F4"/>
                </a:solidFill>
                <a:latin typeface="Barlow Bold" pitchFamily="34" charset="0"/>
                <a:ea typeface="Barlow Bold" pitchFamily="34" charset="-122"/>
                <a:cs typeface="Barlow Bold" pitchFamily="34" charset="-120"/>
              </a:rPr>
              <a:t>3.1. Edge Detection</a:t>
            </a:r>
            <a:endParaRPr lang="en-US" sz="2200" dirty="0"/>
          </a:p>
        </p:txBody>
      </p:sp>
      <p:sp>
        <p:nvSpPr>
          <p:cNvPr id="4" name="Text 2"/>
          <p:cNvSpPr/>
          <p:nvPr/>
        </p:nvSpPr>
        <p:spPr>
          <a:xfrm>
            <a:off x="758309" y="2645093"/>
            <a:ext cx="6292572" cy="1386840"/>
          </a:xfrm>
          <a:prstGeom prst="rect">
            <a:avLst/>
          </a:prstGeom>
          <a:noFill/>
          <a:ln/>
        </p:spPr>
        <p:txBody>
          <a:bodyPr wrap="squar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Edge detection plays a crucial role in identifying the outline of hand gestures. Although not a primary method in the current model, prior works referenced in the paper included techniques like:</a:t>
            </a:r>
            <a:endParaRPr lang="en-US" sz="1700" dirty="0"/>
          </a:p>
        </p:txBody>
      </p:sp>
      <p:sp>
        <p:nvSpPr>
          <p:cNvPr id="5" name="Text 3"/>
          <p:cNvSpPr/>
          <p:nvPr/>
        </p:nvSpPr>
        <p:spPr>
          <a:xfrm>
            <a:off x="758309" y="4226838"/>
            <a:ext cx="6292572" cy="346710"/>
          </a:xfrm>
          <a:prstGeom prst="rect">
            <a:avLst/>
          </a:prstGeom>
          <a:noFill/>
          <a:ln/>
        </p:spPr>
        <p:txBody>
          <a:bodyPr wrap="none" lIns="0" tIns="0" rIns="0" bIns="0" rtlCol="0" anchor="t"/>
          <a:lstStyle/>
          <a:p>
            <a:pPr algn="l" marL="342900" indent="-342900">
              <a:lnSpc>
                <a:spcPts val="2700"/>
              </a:lnSpc>
              <a:buSzPct val="100000"/>
              <a:buChar char="•"/>
            </a:pPr>
            <a:r>
              <a:rPr lang="en-US" sz="1700" dirty="0">
                <a:solidFill>
                  <a:srgbClr val="272525"/>
                </a:solidFill>
                <a:latin typeface="Montserrat" pitchFamily="34" charset="0"/>
                <a:ea typeface="Montserrat" pitchFamily="34" charset="-122"/>
                <a:cs typeface="Montserrat" pitchFamily="34" charset="-120"/>
              </a:rPr>
              <a:t>Canny Edge Detection</a:t>
            </a:r>
            <a:endParaRPr lang="en-US" sz="1700" dirty="0"/>
          </a:p>
        </p:txBody>
      </p:sp>
      <p:sp>
        <p:nvSpPr>
          <p:cNvPr id="6" name="Text 4"/>
          <p:cNvSpPr/>
          <p:nvPr/>
        </p:nvSpPr>
        <p:spPr>
          <a:xfrm>
            <a:off x="758309" y="4649272"/>
            <a:ext cx="6292572" cy="693420"/>
          </a:xfrm>
          <a:prstGeom prst="rect">
            <a:avLst/>
          </a:prstGeom>
          <a:noFill/>
          <a:ln/>
        </p:spPr>
        <p:txBody>
          <a:bodyPr wrap="square" lIns="0" tIns="0" rIns="0" bIns="0" rtlCol="0" anchor="t"/>
          <a:lstStyle/>
          <a:p>
            <a:pPr algn="l" marL="342900" indent="-342900">
              <a:lnSpc>
                <a:spcPts val="2700"/>
              </a:lnSpc>
              <a:buSzPct val="100000"/>
              <a:buChar char="•"/>
            </a:pPr>
            <a:r>
              <a:rPr lang="en-US" sz="1700" dirty="0">
                <a:solidFill>
                  <a:srgbClr val="272525"/>
                </a:solidFill>
                <a:latin typeface="Montserrat" pitchFamily="34" charset="0"/>
                <a:ea typeface="Montserrat" pitchFamily="34" charset="-122"/>
                <a:cs typeface="Montserrat" pitchFamily="34" charset="-120"/>
              </a:rPr>
              <a:t>Hough Transform These help refine gesture contours, especially in low-contrast scenarios.</a:t>
            </a:r>
            <a:endParaRPr lang="en-US" sz="1700" dirty="0"/>
          </a:p>
        </p:txBody>
      </p:sp>
      <p:pic>
        <p:nvPicPr>
          <p:cNvPr id="7" name="Image 0" descr="preencoded.png">    </p:cNvPr>
          <p:cNvPicPr>
            <a:picLocks noChangeAspect="1"/>
          </p:cNvPicPr>
          <p:nvPr/>
        </p:nvPicPr>
        <p:blipFill>
          <a:blip r:embed="rId1"/>
          <a:stretch>
            <a:fillRect/>
          </a:stretch>
        </p:blipFill>
        <p:spPr>
          <a:xfrm>
            <a:off x="7587139" y="2099429"/>
            <a:ext cx="6292572" cy="3368754"/>
          </a:xfrm>
          <a:prstGeom prst="rect">
            <a:avLst/>
          </a:prstGeom>
        </p:spPr>
      </p:pic>
      <p:sp>
        <p:nvSpPr>
          <p:cNvPr id="8" name="Text 5"/>
          <p:cNvSpPr/>
          <p:nvPr/>
        </p:nvSpPr>
        <p:spPr>
          <a:xfrm>
            <a:off x="758309" y="6036826"/>
            <a:ext cx="3748564" cy="356235"/>
          </a:xfrm>
          <a:prstGeom prst="rect">
            <a:avLst/>
          </a:prstGeom>
          <a:noFill/>
          <a:ln/>
        </p:spPr>
        <p:txBody>
          <a:bodyPr wrap="none" lIns="0" tIns="0" rIns="0" bIns="0" rtlCol="0" anchor="t"/>
          <a:lstStyle/>
          <a:p>
            <a:pPr algn="l" indent="0" marL="0">
              <a:lnSpc>
                <a:spcPts val="2800"/>
              </a:lnSpc>
              <a:buNone/>
            </a:pPr>
            <a:r>
              <a:rPr lang="en-US" sz="2200" b="1" dirty="0">
                <a:solidFill>
                  <a:srgbClr val="7068F4"/>
                </a:solidFill>
                <a:latin typeface="Barlow Bold" pitchFamily="34" charset="0"/>
                <a:ea typeface="Barlow Bold" pitchFamily="34" charset="-122"/>
                <a:cs typeface="Barlow Bold" pitchFamily="34" charset="-120"/>
              </a:rPr>
              <a:t>3.2. Morphological Operations</a:t>
            </a:r>
            <a:endParaRPr lang="en-US" sz="2200" dirty="0"/>
          </a:p>
        </p:txBody>
      </p:sp>
      <p:sp>
        <p:nvSpPr>
          <p:cNvPr id="9" name="Text 6"/>
          <p:cNvSpPr/>
          <p:nvPr/>
        </p:nvSpPr>
        <p:spPr>
          <a:xfrm>
            <a:off x="758309" y="6717982"/>
            <a:ext cx="13113782" cy="693420"/>
          </a:xfrm>
          <a:prstGeom prst="rect">
            <a:avLst/>
          </a:prstGeom>
          <a:noFill/>
          <a:ln/>
        </p:spPr>
        <p:txBody>
          <a:bodyPr wrap="squar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To improve binary images, operations like erosion, dilation, and blurring were used. These clean up noise and enhance the finger outlines, improving model input quality.</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270748" y="2499360"/>
            <a:ext cx="4944785" cy="3230761"/>
          </a:xfrm>
          <a:prstGeom prst="rect">
            <a:avLst/>
          </a:prstGeom>
        </p:spPr>
      </p:pic>
      <p:sp>
        <p:nvSpPr>
          <p:cNvPr id="4" name="Text 0"/>
          <p:cNvSpPr/>
          <p:nvPr/>
        </p:nvSpPr>
        <p:spPr>
          <a:xfrm>
            <a:off x="6244709" y="840581"/>
            <a:ext cx="7627382" cy="1425416"/>
          </a:xfrm>
          <a:prstGeom prst="rect">
            <a:avLst/>
          </a:prstGeom>
          <a:noFill/>
          <a:ln/>
        </p:spPr>
        <p:txBody>
          <a:bodyPr wrap="square" lIns="0" tIns="0" rIns="0" bIns="0" rtlCol="0" anchor="t"/>
          <a:lstStyle/>
          <a:p>
            <a:pPr algn="l" indent="0" marL="0">
              <a:lnSpc>
                <a:spcPts val="5600"/>
              </a:lnSpc>
              <a:buNone/>
            </a:pPr>
            <a:r>
              <a:rPr lang="en-US" sz="4450" b="1" dirty="0">
                <a:solidFill>
                  <a:srgbClr val="7068F4"/>
                </a:solidFill>
                <a:latin typeface="Barlow Bold" pitchFamily="34" charset="0"/>
                <a:ea typeface="Barlow Bold" pitchFamily="34" charset="-122"/>
                <a:cs typeface="Barlow Bold" pitchFamily="34" charset="-120"/>
              </a:rPr>
              <a:t>4. Finger Mapping and Gesture Recognition</a:t>
            </a:r>
            <a:endParaRPr lang="en-US" sz="4450" dirty="0"/>
          </a:p>
        </p:txBody>
      </p:sp>
      <p:sp>
        <p:nvSpPr>
          <p:cNvPr id="5" name="Text 1"/>
          <p:cNvSpPr/>
          <p:nvPr/>
        </p:nvSpPr>
        <p:spPr>
          <a:xfrm>
            <a:off x="6244709" y="2807494"/>
            <a:ext cx="2850713" cy="356235"/>
          </a:xfrm>
          <a:prstGeom prst="rect">
            <a:avLst/>
          </a:prstGeom>
          <a:noFill/>
          <a:ln/>
        </p:spPr>
        <p:txBody>
          <a:bodyPr wrap="none" lIns="0" tIns="0" rIns="0" bIns="0" rtlCol="0" anchor="t"/>
          <a:lstStyle/>
          <a:p>
            <a:pPr algn="l" indent="0" marL="0">
              <a:lnSpc>
                <a:spcPts val="2800"/>
              </a:lnSpc>
              <a:buNone/>
            </a:pPr>
            <a:r>
              <a:rPr lang="en-US" sz="2200" b="1" dirty="0">
                <a:solidFill>
                  <a:srgbClr val="7068F4"/>
                </a:solidFill>
                <a:latin typeface="Barlow Bold" pitchFamily="34" charset="0"/>
                <a:ea typeface="Barlow Bold" pitchFamily="34" charset="-122"/>
                <a:cs typeface="Barlow Bold" pitchFamily="34" charset="-120"/>
              </a:rPr>
              <a:t>4.1. Finger Mapping</a:t>
            </a:r>
            <a:endParaRPr lang="en-US" sz="2200" dirty="0"/>
          </a:p>
        </p:txBody>
      </p:sp>
      <p:sp>
        <p:nvSpPr>
          <p:cNvPr id="6" name="Text 2"/>
          <p:cNvSpPr/>
          <p:nvPr/>
        </p:nvSpPr>
        <p:spPr>
          <a:xfrm>
            <a:off x="6244709" y="3380303"/>
            <a:ext cx="3549372" cy="3813810"/>
          </a:xfrm>
          <a:prstGeom prst="rect">
            <a:avLst/>
          </a:prstGeom>
          <a:noFill/>
          <a:ln/>
        </p:spPr>
        <p:txBody>
          <a:bodyPr wrap="squar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The paper introduces detection of 36 distinct gestures, comprising the full alphabet and digits. Finger mapping is implicitly handled by the neural network's learning process through convolutional filters in the CNN backbone. It doesn't use manual joint mapping like MediaPipe or hand skeleton APIs.</a:t>
            </a:r>
            <a:endParaRPr lang="en-US" sz="1700" dirty="0"/>
          </a:p>
        </p:txBody>
      </p:sp>
      <p:sp>
        <p:nvSpPr>
          <p:cNvPr id="7" name="Text 3"/>
          <p:cNvSpPr/>
          <p:nvPr/>
        </p:nvSpPr>
        <p:spPr>
          <a:xfrm>
            <a:off x="10330339" y="2807494"/>
            <a:ext cx="3324701" cy="356235"/>
          </a:xfrm>
          <a:prstGeom prst="rect">
            <a:avLst/>
          </a:prstGeom>
          <a:noFill/>
          <a:ln/>
        </p:spPr>
        <p:txBody>
          <a:bodyPr wrap="none" lIns="0" tIns="0" rIns="0" bIns="0" rtlCol="0" anchor="t"/>
          <a:lstStyle/>
          <a:p>
            <a:pPr algn="l" indent="0" marL="0">
              <a:lnSpc>
                <a:spcPts val="2800"/>
              </a:lnSpc>
              <a:buNone/>
            </a:pPr>
            <a:r>
              <a:rPr lang="en-US" sz="2200" b="1" dirty="0">
                <a:solidFill>
                  <a:srgbClr val="7068F4"/>
                </a:solidFill>
                <a:latin typeface="Barlow Bold" pitchFamily="34" charset="0"/>
                <a:ea typeface="Barlow Bold" pitchFamily="34" charset="-122"/>
                <a:cs typeface="Barlow Bold" pitchFamily="34" charset="-120"/>
              </a:rPr>
              <a:t>4.2. Gesture Classification</a:t>
            </a:r>
            <a:endParaRPr lang="en-US" sz="2200" dirty="0"/>
          </a:p>
        </p:txBody>
      </p:sp>
      <p:sp>
        <p:nvSpPr>
          <p:cNvPr id="8" name="Text 4"/>
          <p:cNvSpPr/>
          <p:nvPr/>
        </p:nvSpPr>
        <p:spPr>
          <a:xfrm>
            <a:off x="10330339" y="3380303"/>
            <a:ext cx="3549372" cy="3467100"/>
          </a:xfrm>
          <a:prstGeom prst="rect">
            <a:avLst/>
          </a:prstGeom>
          <a:noFill/>
          <a:ln/>
        </p:spPr>
        <p:txBody>
          <a:bodyPr wrap="squar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A transfer learning approach with SSD MobileNet V2 is used to recognize static hand gestures. This model is lightweight and suitable for real-time applications. The trained classifier identifies hand positions and maps them to corresponding alphanumeric labels.</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58309" y="1718191"/>
            <a:ext cx="10527030" cy="712708"/>
          </a:xfrm>
          <a:prstGeom prst="rect">
            <a:avLst/>
          </a:prstGeom>
          <a:noFill/>
          <a:ln/>
        </p:spPr>
        <p:txBody>
          <a:bodyPr wrap="none" lIns="0" tIns="0" rIns="0" bIns="0" rtlCol="0" anchor="t"/>
          <a:lstStyle/>
          <a:p>
            <a:pPr algn="l" indent="0" marL="0">
              <a:lnSpc>
                <a:spcPts val="5600"/>
              </a:lnSpc>
              <a:buNone/>
            </a:pPr>
            <a:r>
              <a:rPr lang="en-US" sz="4450" b="1" dirty="0">
                <a:solidFill>
                  <a:srgbClr val="7068F4"/>
                </a:solidFill>
                <a:latin typeface="Barlow Bold" pitchFamily="34" charset="0"/>
                <a:ea typeface="Barlow Bold" pitchFamily="34" charset="-122"/>
                <a:cs typeface="Barlow Bold" pitchFamily="34" charset="-120"/>
              </a:rPr>
              <a:t>5. Hand Labelling and Dataset Preparation</a:t>
            </a:r>
            <a:endParaRPr lang="en-US" sz="4450" dirty="0"/>
          </a:p>
        </p:txBody>
      </p:sp>
      <p:sp>
        <p:nvSpPr>
          <p:cNvPr id="3" name="Text 1"/>
          <p:cNvSpPr/>
          <p:nvPr/>
        </p:nvSpPr>
        <p:spPr>
          <a:xfrm>
            <a:off x="758309" y="2972395"/>
            <a:ext cx="3076456" cy="356235"/>
          </a:xfrm>
          <a:prstGeom prst="rect">
            <a:avLst/>
          </a:prstGeom>
          <a:noFill/>
          <a:ln/>
        </p:spPr>
        <p:txBody>
          <a:bodyPr wrap="none" lIns="0" tIns="0" rIns="0" bIns="0" rtlCol="0" anchor="t"/>
          <a:lstStyle/>
          <a:p>
            <a:pPr algn="l" indent="0" marL="0">
              <a:lnSpc>
                <a:spcPts val="2800"/>
              </a:lnSpc>
              <a:buNone/>
            </a:pPr>
            <a:r>
              <a:rPr lang="en-US" sz="2200" b="1" dirty="0">
                <a:solidFill>
                  <a:srgbClr val="7068F4"/>
                </a:solidFill>
                <a:latin typeface="Barlow Bold" pitchFamily="34" charset="0"/>
                <a:ea typeface="Barlow Bold" pitchFamily="34" charset="-122"/>
                <a:cs typeface="Barlow Bold" pitchFamily="34" charset="-120"/>
              </a:rPr>
              <a:t>5.1. Basic Hand Labelling</a:t>
            </a:r>
            <a:endParaRPr lang="en-US" sz="2200" dirty="0"/>
          </a:p>
        </p:txBody>
      </p:sp>
      <p:sp>
        <p:nvSpPr>
          <p:cNvPr id="4" name="Text 2"/>
          <p:cNvSpPr/>
          <p:nvPr/>
        </p:nvSpPr>
        <p:spPr>
          <a:xfrm>
            <a:off x="758309" y="3545205"/>
            <a:ext cx="6292572" cy="1733550"/>
          </a:xfrm>
          <a:prstGeom prst="rect">
            <a:avLst/>
          </a:prstGeom>
          <a:noFill/>
          <a:ln/>
        </p:spPr>
        <p:txBody>
          <a:bodyPr wrap="squar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The dataset was custom-built using webcam snapshots. Each hand gesture was manually labeled and categorized into folders based on the symbol (e.g., 'A', 'B', ..., 'Z', '0'-'9'). The labeling process is crucial in supervised learning, ensuring accurate training.</a:t>
            </a:r>
            <a:endParaRPr lang="en-US" sz="1700" dirty="0"/>
          </a:p>
        </p:txBody>
      </p:sp>
      <p:sp>
        <p:nvSpPr>
          <p:cNvPr id="5" name="Text 3"/>
          <p:cNvSpPr/>
          <p:nvPr/>
        </p:nvSpPr>
        <p:spPr>
          <a:xfrm>
            <a:off x="7587139" y="2972395"/>
            <a:ext cx="2850713" cy="356235"/>
          </a:xfrm>
          <a:prstGeom prst="rect">
            <a:avLst/>
          </a:prstGeom>
          <a:noFill/>
          <a:ln/>
        </p:spPr>
        <p:txBody>
          <a:bodyPr wrap="none" lIns="0" tIns="0" rIns="0" bIns="0" rtlCol="0" anchor="t"/>
          <a:lstStyle/>
          <a:p>
            <a:pPr algn="l" indent="0" marL="0">
              <a:lnSpc>
                <a:spcPts val="2800"/>
              </a:lnSpc>
              <a:buNone/>
            </a:pPr>
            <a:r>
              <a:rPr lang="en-US" sz="2200" b="1" dirty="0">
                <a:solidFill>
                  <a:srgbClr val="7068F4"/>
                </a:solidFill>
                <a:latin typeface="Barlow Bold" pitchFamily="34" charset="0"/>
                <a:ea typeface="Barlow Bold" pitchFamily="34" charset="-122"/>
                <a:cs typeface="Barlow Bold" pitchFamily="34" charset="-120"/>
              </a:rPr>
              <a:t>5.2. Dataset Quality</a:t>
            </a:r>
            <a:endParaRPr lang="en-US" sz="2200" dirty="0"/>
          </a:p>
        </p:txBody>
      </p:sp>
      <p:sp>
        <p:nvSpPr>
          <p:cNvPr id="6" name="Text 4"/>
          <p:cNvSpPr/>
          <p:nvPr/>
        </p:nvSpPr>
        <p:spPr>
          <a:xfrm>
            <a:off x="7587139" y="3545205"/>
            <a:ext cx="6292572" cy="1733550"/>
          </a:xfrm>
          <a:prstGeom prst="rect">
            <a:avLst/>
          </a:prstGeom>
          <a:noFill/>
          <a:ln/>
        </p:spPr>
        <p:txBody>
          <a:bodyPr wrap="squar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The dataset consists of over 36 classes with multiple images each, captured under varying light and angle conditions. However, the accuracy reported (70–80%) indicates room for improvement in diverse environmental conditions.</a:t>
            </a:r>
            <a:endParaRPr lang="en-US" sz="1700" dirty="0"/>
          </a:p>
        </p:txBody>
      </p:sp>
      <p:sp>
        <p:nvSpPr>
          <p:cNvPr id="7" name="Text 5"/>
          <p:cNvSpPr/>
          <p:nvPr/>
        </p:nvSpPr>
        <p:spPr>
          <a:xfrm>
            <a:off x="758309" y="5798582"/>
            <a:ext cx="7139107" cy="712708"/>
          </a:xfrm>
          <a:prstGeom prst="rect">
            <a:avLst/>
          </a:prstGeom>
          <a:noFill/>
          <a:ln/>
        </p:spPr>
        <p:txBody>
          <a:bodyPr wrap="none" lIns="0" tIns="0" rIns="0" bIns="0" rtlCol="0" anchor="t"/>
          <a:lstStyle/>
          <a:p>
            <a:pPr algn="l" indent="0" marL="0">
              <a:lnSpc>
                <a:spcPts val="5600"/>
              </a:lnSpc>
              <a:buNone/>
            </a:pPr>
            <a:r>
              <a:rPr lang="en-US" sz="4450" b="1" dirty="0">
                <a:solidFill>
                  <a:srgbClr val="7068F4"/>
                </a:solidFill>
                <a:latin typeface="Barlow Bold" pitchFamily="34" charset="0"/>
                <a:ea typeface="Barlow Bold" pitchFamily="34" charset="-122"/>
                <a:cs typeface="Barlow Bold" pitchFamily="34" charset="-120"/>
              </a:rPr>
              <a:t>6. Strengths and Limitations</a:t>
            </a:r>
            <a:endParaRPr lang="en-US" sz="4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58309" y="1313736"/>
            <a:ext cx="5701546" cy="712708"/>
          </a:xfrm>
          <a:prstGeom prst="rect">
            <a:avLst/>
          </a:prstGeom>
          <a:noFill/>
          <a:ln/>
        </p:spPr>
        <p:txBody>
          <a:bodyPr wrap="none" lIns="0" tIns="0" rIns="0" bIns="0" rtlCol="0" anchor="t"/>
          <a:lstStyle/>
          <a:p>
            <a:pPr algn="l" indent="0" marL="0">
              <a:lnSpc>
                <a:spcPts val="5600"/>
              </a:lnSpc>
              <a:buNone/>
            </a:pPr>
            <a:r>
              <a:rPr lang="en-US" sz="4450" b="1" dirty="0">
                <a:solidFill>
                  <a:srgbClr val="7068F4"/>
                </a:solidFill>
                <a:latin typeface="Barlow Bold" pitchFamily="34" charset="0"/>
                <a:ea typeface="Barlow Bold" pitchFamily="34" charset="-122"/>
                <a:cs typeface="Barlow Bold" pitchFamily="34" charset="-120"/>
              </a:rPr>
              <a:t>Strengths</a:t>
            </a:r>
            <a:endParaRPr lang="en-US" sz="4450" dirty="0"/>
          </a:p>
        </p:txBody>
      </p:sp>
      <p:sp>
        <p:nvSpPr>
          <p:cNvPr id="3" name="Shape 1"/>
          <p:cNvSpPr/>
          <p:nvPr/>
        </p:nvSpPr>
        <p:spPr>
          <a:xfrm>
            <a:off x="758309" y="2784634"/>
            <a:ext cx="6448544" cy="1968222"/>
          </a:xfrm>
          <a:prstGeom prst="roundRect">
            <a:avLst>
              <a:gd name="adj" fmla="val 7433"/>
            </a:avLst>
          </a:prstGeom>
          <a:solidFill>
            <a:srgbClr val="EEEFF5"/>
          </a:solidFill>
          <a:ln/>
          <a:effectLst>
            <a:outerShdw sx="100000" sy="100000" kx="0" ky="0" algn="bl" rotWithShape="0" blurRad="53340" dist="26670" dir="13500000">
              <a:srgbClr val="ffffff">
                <a:alpha val="70000"/>
              </a:srgbClr>
            </a:outerShdw>
          </a:effectLst>
        </p:spPr>
      </p:sp>
      <p:pic>
        <p:nvPicPr>
          <p:cNvPr id="4" name="Image 0" descr="preencoded.png">    </p:cNvPr>
          <p:cNvPicPr>
            <a:picLocks noChangeAspect="1"/>
          </p:cNvPicPr>
          <p:nvPr/>
        </p:nvPicPr>
        <p:blipFill>
          <a:blip r:embed="rId1"/>
          <a:stretch>
            <a:fillRect/>
          </a:stretch>
        </p:blipFill>
        <p:spPr>
          <a:xfrm>
            <a:off x="758309" y="2754154"/>
            <a:ext cx="6448544" cy="121920"/>
          </a:xfrm>
          <a:prstGeom prst="rect">
            <a:avLst/>
          </a:prstGeom>
        </p:spPr>
      </p:pic>
      <p:pic>
        <p:nvPicPr>
          <p:cNvPr id="5" name="Image 1" descr="preencoded.png">    </p:cNvPr>
          <p:cNvPicPr>
            <a:picLocks noChangeAspect="1"/>
          </p:cNvPicPr>
          <p:nvPr/>
        </p:nvPicPr>
        <p:blipFill>
          <a:blip r:embed="rId2"/>
          <a:stretch>
            <a:fillRect/>
          </a:stretch>
        </p:blipFill>
        <p:spPr>
          <a:xfrm>
            <a:off x="3657540" y="2459712"/>
            <a:ext cx="649962" cy="649962"/>
          </a:xfrm>
          <a:prstGeom prst="rect">
            <a:avLst/>
          </a:prstGeom>
        </p:spPr>
      </p:pic>
      <p:pic>
        <p:nvPicPr>
          <p:cNvPr id="6" name="Image 2" descr="preencoded.png">    </p:cNvPr>
          <p:cNvPicPr>
            <a:picLocks noChangeAspect="1"/>
          </p:cNvPicPr>
          <p:nvPr/>
        </p:nvPicPr>
        <p:blipFill>
          <a:blip r:embed="rId3"/>
          <a:stretch>
            <a:fillRect/>
          </a:stretch>
        </p:blipFill>
        <p:spPr>
          <a:xfrm>
            <a:off x="3852565" y="2654737"/>
            <a:ext cx="259913" cy="259913"/>
          </a:xfrm>
          <a:prstGeom prst="rect">
            <a:avLst/>
          </a:prstGeom>
        </p:spPr>
      </p:pic>
      <p:sp>
        <p:nvSpPr>
          <p:cNvPr id="7" name="Text 2"/>
          <p:cNvSpPr/>
          <p:nvPr/>
        </p:nvSpPr>
        <p:spPr>
          <a:xfrm>
            <a:off x="1005364" y="3326249"/>
            <a:ext cx="2850713" cy="356235"/>
          </a:xfrm>
          <a:prstGeom prst="rect">
            <a:avLst/>
          </a:prstGeom>
          <a:noFill/>
          <a:ln/>
        </p:spPr>
        <p:txBody>
          <a:bodyPr wrap="none" lIns="0" tIns="0" rIns="0" bIns="0" rtlCol="0" anchor="t"/>
          <a:lstStyle/>
          <a:p>
            <a:pPr algn="l" indent="0" marL="0">
              <a:lnSpc>
                <a:spcPts val="2800"/>
              </a:lnSpc>
              <a:buNone/>
            </a:pPr>
            <a:r>
              <a:rPr lang="en-US" sz="2200" b="1" dirty="0">
                <a:solidFill>
                  <a:srgbClr val="272525"/>
                </a:solidFill>
                <a:latin typeface="Barlow Bold" pitchFamily="34" charset="0"/>
                <a:ea typeface="Barlow Bold" pitchFamily="34" charset="-122"/>
                <a:cs typeface="Barlow Bold" pitchFamily="34" charset="-120"/>
              </a:rPr>
              <a:t>No external hardware</a:t>
            </a:r>
            <a:endParaRPr lang="en-US" sz="2200" dirty="0"/>
          </a:p>
        </p:txBody>
      </p:sp>
      <p:sp>
        <p:nvSpPr>
          <p:cNvPr id="8" name="Text 3"/>
          <p:cNvSpPr/>
          <p:nvPr/>
        </p:nvSpPr>
        <p:spPr>
          <a:xfrm>
            <a:off x="1005364" y="3812381"/>
            <a:ext cx="5954435" cy="693420"/>
          </a:xfrm>
          <a:prstGeom prst="rect">
            <a:avLst/>
          </a:prstGeom>
          <a:noFill/>
          <a:ln/>
        </p:spPr>
        <p:txBody>
          <a:bodyPr wrap="squar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No need for external hardware (e.g., gloves, depth cameras)</a:t>
            </a:r>
            <a:endParaRPr lang="en-US" sz="1700" dirty="0"/>
          </a:p>
        </p:txBody>
      </p:sp>
      <p:sp>
        <p:nvSpPr>
          <p:cNvPr id="9" name="Shape 4"/>
          <p:cNvSpPr/>
          <p:nvPr/>
        </p:nvSpPr>
        <p:spPr>
          <a:xfrm>
            <a:off x="7423428" y="2784634"/>
            <a:ext cx="6448663" cy="1968222"/>
          </a:xfrm>
          <a:prstGeom prst="roundRect">
            <a:avLst>
              <a:gd name="adj" fmla="val 7433"/>
            </a:avLst>
          </a:prstGeom>
          <a:solidFill>
            <a:srgbClr val="EEEFF5"/>
          </a:solidFill>
          <a:ln/>
          <a:effectLst>
            <a:outerShdw sx="100000" sy="100000" kx="0" ky="0" algn="bl" rotWithShape="0" blurRad="53340" dist="26670" dir="13500000">
              <a:srgbClr val="ffffff">
                <a:alpha val="70000"/>
              </a:srgbClr>
            </a:outerShdw>
          </a:effectLst>
        </p:spPr>
      </p:sp>
      <p:pic>
        <p:nvPicPr>
          <p:cNvPr id="10" name="Image 3" descr="preencoded.png">    </p:cNvPr>
          <p:cNvPicPr>
            <a:picLocks noChangeAspect="1"/>
          </p:cNvPicPr>
          <p:nvPr/>
        </p:nvPicPr>
        <p:blipFill>
          <a:blip r:embed="rId4"/>
          <a:stretch>
            <a:fillRect/>
          </a:stretch>
        </p:blipFill>
        <p:spPr>
          <a:xfrm>
            <a:off x="7423428" y="2754154"/>
            <a:ext cx="6448663" cy="121920"/>
          </a:xfrm>
          <a:prstGeom prst="rect">
            <a:avLst/>
          </a:prstGeom>
        </p:spPr>
      </p:pic>
      <p:pic>
        <p:nvPicPr>
          <p:cNvPr id="11" name="Image 4" descr="preencoded.png">    </p:cNvPr>
          <p:cNvPicPr>
            <a:picLocks noChangeAspect="1"/>
          </p:cNvPicPr>
          <p:nvPr/>
        </p:nvPicPr>
        <p:blipFill>
          <a:blip r:embed="rId5"/>
          <a:stretch>
            <a:fillRect/>
          </a:stretch>
        </p:blipFill>
        <p:spPr>
          <a:xfrm>
            <a:off x="10322778" y="2459712"/>
            <a:ext cx="649962" cy="649962"/>
          </a:xfrm>
          <a:prstGeom prst="rect">
            <a:avLst/>
          </a:prstGeom>
        </p:spPr>
      </p:pic>
      <p:pic>
        <p:nvPicPr>
          <p:cNvPr id="12" name="Image 5" descr="preencoded.png">    </p:cNvPr>
          <p:cNvPicPr>
            <a:picLocks noChangeAspect="1"/>
          </p:cNvPicPr>
          <p:nvPr/>
        </p:nvPicPr>
        <p:blipFill>
          <a:blip r:embed="rId6"/>
          <a:stretch>
            <a:fillRect/>
          </a:stretch>
        </p:blipFill>
        <p:spPr>
          <a:xfrm>
            <a:off x="10517803" y="2622233"/>
            <a:ext cx="259913" cy="324922"/>
          </a:xfrm>
          <a:prstGeom prst="rect">
            <a:avLst/>
          </a:prstGeom>
        </p:spPr>
      </p:pic>
      <p:sp>
        <p:nvSpPr>
          <p:cNvPr id="13" name="Text 5"/>
          <p:cNvSpPr/>
          <p:nvPr/>
        </p:nvSpPr>
        <p:spPr>
          <a:xfrm>
            <a:off x="7670483" y="3326249"/>
            <a:ext cx="2938224" cy="356235"/>
          </a:xfrm>
          <a:prstGeom prst="rect">
            <a:avLst/>
          </a:prstGeom>
          <a:noFill/>
          <a:ln/>
        </p:spPr>
        <p:txBody>
          <a:bodyPr wrap="none" lIns="0" tIns="0" rIns="0" bIns="0" rtlCol="0" anchor="t"/>
          <a:lstStyle/>
          <a:p>
            <a:pPr algn="l" indent="0" marL="0">
              <a:lnSpc>
                <a:spcPts val="2800"/>
              </a:lnSpc>
              <a:buNone/>
            </a:pPr>
            <a:r>
              <a:rPr lang="en-US" sz="2200" b="1" dirty="0">
                <a:solidFill>
                  <a:srgbClr val="272525"/>
                </a:solidFill>
                <a:latin typeface="Barlow Bold" pitchFamily="34" charset="0"/>
                <a:ea typeface="Barlow Bold" pitchFamily="34" charset="-122"/>
                <a:cs typeface="Barlow Bold" pitchFamily="34" charset="-120"/>
              </a:rPr>
              <a:t>Real-time performance</a:t>
            </a:r>
            <a:endParaRPr lang="en-US" sz="2200" dirty="0"/>
          </a:p>
        </p:txBody>
      </p:sp>
      <p:sp>
        <p:nvSpPr>
          <p:cNvPr id="14" name="Text 6"/>
          <p:cNvSpPr/>
          <p:nvPr/>
        </p:nvSpPr>
        <p:spPr>
          <a:xfrm>
            <a:off x="7670483" y="3812381"/>
            <a:ext cx="5954554" cy="346710"/>
          </a:xfrm>
          <a:prstGeom prst="rect">
            <a:avLst/>
          </a:prstGeom>
          <a:noFill/>
          <a:ln/>
        </p:spPr>
        <p:txBody>
          <a:bodyPr wrap="non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Real-time performance using OpenCV and TensorFlow</a:t>
            </a:r>
            <a:endParaRPr lang="en-US" sz="1700" dirty="0"/>
          </a:p>
        </p:txBody>
      </p:sp>
      <p:sp>
        <p:nvSpPr>
          <p:cNvPr id="15" name="Shape 7"/>
          <p:cNvSpPr/>
          <p:nvPr/>
        </p:nvSpPr>
        <p:spPr>
          <a:xfrm>
            <a:off x="758309" y="5294352"/>
            <a:ext cx="6448544" cy="1621512"/>
          </a:xfrm>
          <a:prstGeom prst="roundRect">
            <a:avLst>
              <a:gd name="adj" fmla="val 9023"/>
            </a:avLst>
          </a:prstGeom>
          <a:solidFill>
            <a:srgbClr val="EEEFF5"/>
          </a:solidFill>
          <a:ln/>
          <a:effectLst>
            <a:outerShdw sx="100000" sy="100000" kx="0" ky="0" algn="bl" rotWithShape="0" blurRad="53340" dist="26670" dir="13500000">
              <a:srgbClr val="ffffff">
                <a:alpha val="70000"/>
              </a:srgbClr>
            </a:outerShdw>
          </a:effectLst>
        </p:spPr>
      </p:sp>
      <p:pic>
        <p:nvPicPr>
          <p:cNvPr id="16" name="Image 6" descr="preencoded.png">    </p:cNvPr>
          <p:cNvPicPr>
            <a:picLocks noChangeAspect="1"/>
          </p:cNvPicPr>
          <p:nvPr/>
        </p:nvPicPr>
        <p:blipFill>
          <a:blip r:embed="rId7"/>
          <a:stretch>
            <a:fillRect/>
          </a:stretch>
        </p:blipFill>
        <p:spPr>
          <a:xfrm>
            <a:off x="758309" y="5263872"/>
            <a:ext cx="6448544" cy="121920"/>
          </a:xfrm>
          <a:prstGeom prst="rect">
            <a:avLst/>
          </a:prstGeom>
        </p:spPr>
      </p:pic>
      <p:pic>
        <p:nvPicPr>
          <p:cNvPr id="17" name="Image 7" descr="preencoded.png">    </p:cNvPr>
          <p:cNvPicPr>
            <a:picLocks noChangeAspect="1"/>
          </p:cNvPicPr>
          <p:nvPr/>
        </p:nvPicPr>
        <p:blipFill>
          <a:blip r:embed="rId8"/>
          <a:stretch>
            <a:fillRect/>
          </a:stretch>
        </p:blipFill>
        <p:spPr>
          <a:xfrm>
            <a:off x="3657540" y="4969431"/>
            <a:ext cx="649962" cy="649962"/>
          </a:xfrm>
          <a:prstGeom prst="rect">
            <a:avLst/>
          </a:prstGeom>
        </p:spPr>
      </p:pic>
      <p:pic>
        <p:nvPicPr>
          <p:cNvPr id="18" name="Image 8" descr="preencoded.png">    </p:cNvPr>
          <p:cNvPicPr>
            <a:picLocks noChangeAspect="1"/>
          </p:cNvPicPr>
          <p:nvPr/>
        </p:nvPicPr>
        <p:blipFill>
          <a:blip r:embed="rId9"/>
          <a:stretch>
            <a:fillRect/>
          </a:stretch>
        </p:blipFill>
        <p:spPr>
          <a:xfrm>
            <a:off x="3852565" y="5164455"/>
            <a:ext cx="259913" cy="259913"/>
          </a:xfrm>
          <a:prstGeom prst="rect">
            <a:avLst/>
          </a:prstGeom>
        </p:spPr>
      </p:pic>
      <p:sp>
        <p:nvSpPr>
          <p:cNvPr id="19" name="Text 8"/>
          <p:cNvSpPr/>
          <p:nvPr/>
        </p:nvSpPr>
        <p:spPr>
          <a:xfrm>
            <a:off x="1005364" y="5835967"/>
            <a:ext cx="2850713" cy="356235"/>
          </a:xfrm>
          <a:prstGeom prst="rect">
            <a:avLst/>
          </a:prstGeom>
          <a:noFill/>
          <a:ln/>
        </p:spPr>
        <p:txBody>
          <a:bodyPr wrap="none" lIns="0" tIns="0" rIns="0" bIns="0" rtlCol="0" anchor="t"/>
          <a:lstStyle/>
          <a:p>
            <a:pPr algn="l" indent="0" marL="0">
              <a:lnSpc>
                <a:spcPts val="2800"/>
              </a:lnSpc>
              <a:buNone/>
            </a:pPr>
            <a:r>
              <a:rPr lang="en-US" sz="2200" b="1" dirty="0">
                <a:solidFill>
                  <a:srgbClr val="272525"/>
                </a:solidFill>
                <a:latin typeface="Barlow Bold" pitchFamily="34" charset="0"/>
                <a:ea typeface="Barlow Bold" pitchFamily="34" charset="-122"/>
                <a:cs typeface="Barlow Bold" pitchFamily="34" charset="-120"/>
              </a:rPr>
              <a:t>Budget-conscious</a:t>
            </a:r>
            <a:endParaRPr lang="en-US" sz="2200" dirty="0"/>
          </a:p>
        </p:txBody>
      </p:sp>
      <p:sp>
        <p:nvSpPr>
          <p:cNvPr id="20" name="Text 9"/>
          <p:cNvSpPr/>
          <p:nvPr/>
        </p:nvSpPr>
        <p:spPr>
          <a:xfrm>
            <a:off x="1005364" y="6322100"/>
            <a:ext cx="5954435" cy="346710"/>
          </a:xfrm>
          <a:prstGeom prst="rect">
            <a:avLst/>
          </a:prstGeom>
          <a:noFill/>
          <a:ln/>
        </p:spPr>
        <p:txBody>
          <a:bodyPr wrap="non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Suitable for budget-conscious users</a:t>
            </a:r>
            <a:endParaRPr lang="en-US" sz="1700" dirty="0"/>
          </a:p>
        </p:txBody>
      </p:sp>
      <p:sp>
        <p:nvSpPr>
          <p:cNvPr id="21" name="Shape 10"/>
          <p:cNvSpPr/>
          <p:nvPr/>
        </p:nvSpPr>
        <p:spPr>
          <a:xfrm>
            <a:off x="7423428" y="5294352"/>
            <a:ext cx="6448663" cy="1621512"/>
          </a:xfrm>
          <a:prstGeom prst="roundRect">
            <a:avLst>
              <a:gd name="adj" fmla="val 9023"/>
            </a:avLst>
          </a:prstGeom>
          <a:solidFill>
            <a:srgbClr val="EEEFF5"/>
          </a:solidFill>
          <a:ln/>
          <a:effectLst>
            <a:outerShdw sx="100000" sy="100000" kx="0" ky="0" algn="bl" rotWithShape="0" blurRad="53340" dist="26670" dir="13500000">
              <a:srgbClr val="ffffff">
                <a:alpha val="70000"/>
              </a:srgbClr>
            </a:outerShdw>
          </a:effectLst>
        </p:spPr>
      </p:sp>
      <p:pic>
        <p:nvPicPr>
          <p:cNvPr id="22" name="Image 9" descr="preencoded.png">    </p:cNvPr>
          <p:cNvPicPr>
            <a:picLocks noChangeAspect="1"/>
          </p:cNvPicPr>
          <p:nvPr/>
        </p:nvPicPr>
        <p:blipFill>
          <a:blip r:embed="rId10"/>
          <a:stretch>
            <a:fillRect/>
          </a:stretch>
        </p:blipFill>
        <p:spPr>
          <a:xfrm>
            <a:off x="7423428" y="5263872"/>
            <a:ext cx="6448663" cy="121920"/>
          </a:xfrm>
          <a:prstGeom prst="rect">
            <a:avLst/>
          </a:prstGeom>
        </p:spPr>
      </p:pic>
      <p:pic>
        <p:nvPicPr>
          <p:cNvPr id="23" name="Image 10" descr="preencoded.png">    </p:cNvPr>
          <p:cNvPicPr>
            <a:picLocks noChangeAspect="1"/>
          </p:cNvPicPr>
          <p:nvPr/>
        </p:nvPicPr>
        <p:blipFill>
          <a:blip r:embed="rId11"/>
          <a:stretch>
            <a:fillRect/>
          </a:stretch>
        </p:blipFill>
        <p:spPr>
          <a:xfrm>
            <a:off x="10322778" y="4969431"/>
            <a:ext cx="649962" cy="649962"/>
          </a:xfrm>
          <a:prstGeom prst="rect">
            <a:avLst/>
          </a:prstGeom>
        </p:spPr>
      </p:pic>
      <p:pic>
        <p:nvPicPr>
          <p:cNvPr id="24" name="Image 11" descr="preencoded.png">    </p:cNvPr>
          <p:cNvPicPr>
            <a:picLocks noChangeAspect="1"/>
          </p:cNvPicPr>
          <p:nvPr/>
        </p:nvPicPr>
        <p:blipFill>
          <a:blip r:embed="rId12"/>
          <a:stretch>
            <a:fillRect/>
          </a:stretch>
        </p:blipFill>
        <p:spPr>
          <a:xfrm>
            <a:off x="10517803" y="5131951"/>
            <a:ext cx="259913" cy="324922"/>
          </a:xfrm>
          <a:prstGeom prst="rect">
            <a:avLst/>
          </a:prstGeom>
        </p:spPr>
      </p:pic>
      <p:sp>
        <p:nvSpPr>
          <p:cNvPr id="25" name="Text 11"/>
          <p:cNvSpPr/>
          <p:nvPr/>
        </p:nvSpPr>
        <p:spPr>
          <a:xfrm>
            <a:off x="7670483" y="5835967"/>
            <a:ext cx="2850713" cy="356235"/>
          </a:xfrm>
          <a:prstGeom prst="rect">
            <a:avLst/>
          </a:prstGeom>
          <a:noFill/>
          <a:ln/>
        </p:spPr>
        <p:txBody>
          <a:bodyPr wrap="none" lIns="0" tIns="0" rIns="0" bIns="0" rtlCol="0" anchor="t"/>
          <a:lstStyle/>
          <a:p>
            <a:pPr algn="l" indent="0" marL="0">
              <a:lnSpc>
                <a:spcPts val="2800"/>
              </a:lnSpc>
              <a:buNone/>
            </a:pPr>
            <a:r>
              <a:rPr lang="en-US" sz="2200" b="1" dirty="0">
                <a:solidFill>
                  <a:srgbClr val="272525"/>
                </a:solidFill>
                <a:latin typeface="Barlow Bold" pitchFamily="34" charset="0"/>
                <a:ea typeface="Barlow Bold" pitchFamily="34" charset="-122"/>
                <a:cs typeface="Barlow Bold" pitchFamily="34" charset="-120"/>
              </a:rPr>
              <a:t>Indian Sign Language</a:t>
            </a:r>
            <a:endParaRPr lang="en-US" sz="2200" dirty="0"/>
          </a:p>
        </p:txBody>
      </p:sp>
      <p:sp>
        <p:nvSpPr>
          <p:cNvPr id="26" name="Text 12"/>
          <p:cNvSpPr/>
          <p:nvPr/>
        </p:nvSpPr>
        <p:spPr>
          <a:xfrm>
            <a:off x="7670483" y="6322100"/>
            <a:ext cx="5954554" cy="346710"/>
          </a:xfrm>
          <a:prstGeom prst="rect">
            <a:avLst/>
          </a:prstGeom>
          <a:noFill/>
          <a:ln/>
        </p:spPr>
        <p:txBody>
          <a:bodyPr wrap="non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Focused on Indian Sign Language (ISL)</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58309" y="2382441"/>
            <a:ext cx="5701546" cy="712708"/>
          </a:xfrm>
          <a:prstGeom prst="rect">
            <a:avLst/>
          </a:prstGeom>
          <a:noFill/>
          <a:ln/>
        </p:spPr>
        <p:txBody>
          <a:bodyPr wrap="none" lIns="0" tIns="0" rIns="0" bIns="0" rtlCol="0" anchor="t"/>
          <a:lstStyle/>
          <a:p>
            <a:pPr algn="l" indent="0" marL="0">
              <a:lnSpc>
                <a:spcPts val="5600"/>
              </a:lnSpc>
              <a:buNone/>
            </a:pPr>
            <a:r>
              <a:rPr lang="en-US" sz="4450" b="1" dirty="0">
                <a:solidFill>
                  <a:srgbClr val="7068F4"/>
                </a:solidFill>
                <a:latin typeface="Barlow Bold" pitchFamily="34" charset="0"/>
                <a:ea typeface="Barlow Bold" pitchFamily="34" charset="-122"/>
                <a:cs typeface="Barlow Bold" pitchFamily="34" charset="-120"/>
              </a:rPr>
              <a:t>7. Conclusion</a:t>
            </a:r>
            <a:endParaRPr lang="en-US" sz="4450" dirty="0"/>
          </a:p>
        </p:txBody>
      </p:sp>
      <p:sp>
        <p:nvSpPr>
          <p:cNvPr id="4" name="Text 1"/>
          <p:cNvSpPr/>
          <p:nvPr/>
        </p:nvSpPr>
        <p:spPr>
          <a:xfrm>
            <a:off x="758309" y="3420070"/>
            <a:ext cx="7627382" cy="2426970"/>
          </a:xfrm>
          <a:prstGeom prst="rect">
            <a:avLst/>
          </a:prstGeom>
          <a:noFill/>
          <a:ln/>
        </p:spPr>
        <p:txBody>
          <a:bodyPr wrap="squar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The reviewed system presents a promising approach to cost-effective sign language recognition using basic computer vision and deep learning. Its reliance on contrast, clear backgrounds, and consistent hand visibility makes it a strong starting point for accessible assistive communication tools. Future work should explore dynamic gesture recognition, hand skeleton tracking, and environment-independent detection.</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2025-08-01T08:03:26Z</dcterms:created>
  <dcterms:modified xsi:type="dcterms:W3CDTF">2025-08-01T08:03:26Z</dcterms:modified>
</cp:coreProperties>
</file>